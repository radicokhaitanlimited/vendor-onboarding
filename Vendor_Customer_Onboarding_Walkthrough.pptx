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0" y="-1280160"/>
            <a:ext cx="5943600" cy="4114800"/>
          </a:xfrm>
          <a:prstGeom prst="roundRect">
            <a:avLst>
              <a:gd name="adj" fmla="val 50000"/>
            </a:avLst>
          </a:prstGeom>
          <a:solidFill>
            <a:srgbClr val="1C1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9C66C"/>
                </a:solidFill>
                <a:latin typeface="Calibri"/>
              </a:rPr>
              <a:t>RADICO  ·  INTERNAL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698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0" i="0">
                <a:solidFill>
                  <a:srgbClr val="FFF5CE"/>
                </a:solidFill>
                <a:latin typeface="Georgia"/>
              </a:rPr>
              <a:t>Vendor &amp; Customer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0" i="0">
                <a:solidFill>
                  <a:srgbClr val="FFF5CE"/>
                </a:solidFill>
                <a:latin typeface="Georgia"/>
              </a:rPr>
              <a:t>Onboarding,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8686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9BA5BC"/>
                </a:solidFill>
                <a:latin typeface="Calibri"/>
              </a:rPr>
              <a:t>One system that replaces email threads and manual SAP data entry with a guided intake, PAN/GST verification, document collection, and a manager approval trail — for both new vendors and new customers.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881360" cy="12700"/>
          </a:xfrm>
          <a:prstGeom prst="rect">
            <a:avLst/>
          </a:prstGeom>
          <a:solidFill>
            <a:srgbClr val="3A3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9BA5BC"/>
                </a:solidFill>
                <a:latin typeface="Calibri"/>
              </a:rP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5E9F2"/>
                </a:solidFill>
                <a:latin typeface="Calibri"/>
              </a:rPr>
              <a:t>Vendor + Customer master data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120640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9BA5BC"/>
                </a:solidFill>
                <a:latin typeface="Calibri"/>
              </a:rPr>
              <a:t>CORE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3949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5E9F2"/>
                </a:solidFill>
                <a:latin typeface="Calibri"/>
              </a:rPr>
              <a:t>SAP-ready export on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120640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9BA5BC"/>
                </a:solidFill>
                <a:latin typeface="Calibri"/>
              </a:rPr>
              <a:t>PREPARED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3949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5E9F2"/>
                </a:solidFill>
                <a:latin typeface="Calibri"/>
              </a:rPr>
              <a:t>Team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15240"/>
          </a:xfrm>
          <a:prstGeom prst="rect">
            <a:avLst/>
          </a:prstGeom>
          <a:solidFill>
            <a:srgbClr val="E9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9C66C"/>
                </a:solidFill>
                <a:latin typeface="Calibri"/>
              </a:rPr>
              <a:t>THE PROBLEM, THE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FFF5CE"/>
                </a:solidFill>
                <a:latin typeface="Georgia"/>
              </a:rPr>
              <a:t>Why this app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9BA5BC"/>
                </a:solidFill>
                <a:latin typeface="Calibri"/>
              </a:rPr>
              <a:t>Bringing on a new vendor or customer means collecting company, tax, bank and MSME details, verifying them against government records, gathering supporting documents, and getting sign-off — before anyone can create the record in SAP.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5257800" cy="3108960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98648"/>
            <a:ext cx="4745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5CE"/>
                </a:solidFill>
                <a:latin typeface="Georgia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337560"/>
            <a:ext cx="4745736" cy="2267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50">
                <a:solidFill>
                  <a:srgbClr val="9BA5BC"/>
                </a:solidFill>
                <a:latin typeface="Calibri"/>
              </a:rPr>
              <a:t>Details arrived by email or phone in whatever format the vendor chose. PAN and GST were taken on trust. Approvals lived in inboxes. SAP data entry was manual and error-prone.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697480"/>
            <a:ext cx="5349240" cy="3108960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2898648"/>
            <a:ext cx="4837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5CE"/>
                </a:solidFill>
                <a:latin typeface="Georgia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3337560"/>
            <a:ext cx="4837176" cy="2267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50">
                <a:solidFill>
                  <a:srgbClr val="9BA5BC"/>
                </a:solidFill>
                <a:latin typeface="Calibri"/>
              </a:rPr>
              <a:t>A single onboarding record carries the vendor/customer from first contact to an approved, SAP-ready row — with every verification, document and approval attached to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15240"/>
          </a:xfrm>
          <a:prstGeom prst="rect">
            <a:avLst/>
          </a:prstGeom>
          <a:solidFill>
            <a:srgbClr val="E9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9C66C"/>
                </a:solidFill>
                <a:latin typeface="Calibri"/>
              </a:rPr>
              <a:t>PEOPLE IN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FFF5CE"/>
                </a:solidFill>
                <a:latin typeface="Georgia"/>
              </a:rPr>
              <a:t>Three roles, 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BA5BC"/>
                </a:solidFill>
                <a:latin typeface="Calibri"/>
              </a:rPr>
              <a:t>Every user has a role, and the role decides what they can see and do — from raising a request to giving final approval.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3429000" cy="3657600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62432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3A2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E9C66C"/>
                </a:solidFill>
                <a:latin typeface="Calibri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27832"/>
            <a:ext cx="29169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F5CE"/>
                </a:solidFill>
                <a:latin typeface="Calibri"/>
              </a:rPr>
              <a:t>Full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03320"/>
            <a:ext cx="2916936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BA5BC"/>
                </a:solidFill>
                <a:latin typeface="Calibri"/>
              </a:rPr>
              <a:t>Sees every onboarding, manages master data (payment terms, purchase orgs, TDS codes), exports approved records to SAP.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331720"/>
            <a:ext cx="3429000" cy="3657600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9432" y="2624328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8FAEE8"/>
                </a:solidFill>
                <a:latin typeface="Calibri"/>
              </a:rPr>
              <a:t>Boss /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227832"/>
            <a:ext cx="29169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F5CE"/>
                </a:solidFill>
                <a:latin typeface="Calibri"/>
              </a:rPr>
              <a:t>Approves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703320"/>
            <a:ext cx="2916936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BA5BC"/>
                </a:solidFill>
                <a:latin typeface="Calibri"/>
              </a:rPr>
              <a:t>Reviews requests sent up by their employees and gives final approval or rejection, with remarks.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331720"/>
            <a:ext cx="3429000" cy="3657600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02752" y="2624328"/>
            <a:ext cx="1261872" cy="365760"/>
          </a:xfrm>
          <a:prstGeom prst="roundRect">
            <a:avLst>
              <a:gd name="adj" fmla="val 50000"/>
            </a:avLst>
          </a:prstGeom>
          <a:solidFill>
            <a:srgbClr val="163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6FBB90"/>
                </a:solidFill>
                <a:latin typeface="Calibri"/>
              </a:rPr>
              <a:t>Employee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227832"/>
            <a:ext cx="29169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F5CE"/>
                </a:solidFill>
                <a:latin typeface="Calibri"/>
              </a:rPr>
              <a:t>Raises requests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703320"/>
            <a:ext cx="2916936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BA5BC"/>
                </a:solidFill>
                <a:latin typeface="Calibri"/>
              </a:rPr>
              <a:t>Creates onboarding records, runs verifications, uploads documents, then routes the record to their boss.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15240"/>
          </a:xfrm>
          <a:prstGeom prst="rect">
            <a:avLst/>
          </a:prstGeom>
          <a:solidFill>
            <a:srgbClr val="E9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9C66C"/>
                </a:solidFill>
                <a:latin typeface="Calibri"/>
              </a:rPr>
              <a:t>GETTING A RECORD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0" i="0">
                <a:solidFill>
                  <a:srgbClr val="FFF5CE"/>
                </a:solidFill>
                <a:latin typeface="Georgia"/>
              </a:rPr>
              <a:t>The Employee onboards a vendor or customer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0" i="0">
                <a:solidFill>
                  <a:srgbClr val="FFF5CE"/>
                </a:solidFill>
                <a:latin typeface="Georgia"/>
              </a:rPr>
              <a:t>two 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9BA5BC"/>
                </a:solidFill>
                <a:latin typeface="Calibri"/>
              </a:rPr>
              <a:t>Every onboarding starts with the Employee, who chooses one of two paths.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61407" y="2423160"/>
            <a:ext cx="2468880" cy="777240"/>
          </a:xfrm>
          <a:prstGeom prst="roundRect">
            <a:avLst>
              <a:gd name="adj" fmla="val 35000"/>
            </a:avLst>
          </a:prstGeom>
          <a:solidFill>
            <a:srgbClr val="131F34"/>
          </a:solidFill>
          <a:ln w="15875">
            <a:solidFill>
              <a:srgbClr val="D9B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5CE"/>
                </a:solidFill>
                <a:latin typeface="Calibri"/>
              </a:rPr>
              <a:t>Employee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68980" y="3200400"/>
            <a:ext cx="19050" cy="320040"/>
          </a:xfrm>
          <a:prstGeom prst="rect">
            <a:avLst/>
          </a:prstGeom>
          <a:solidFill>
            <a:srgbClr val="D9B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55380" y="3200400"/>
            <a:ext cx="19050" cy="320040"/>
          </a:xfrm>
          <a:prstGeom prst="rect">
            <a:avLst/>
          </a:prstGeom>
          <a:solidFill>
            <a:srgbClr val="D9B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68980" y="3520440"/>
            <a:ext cx="5486400" cy="19050"/>
          </a:xfrm>
          <a:prstGeom prst="rect">
            <a:avLst/>
          </a:prstGeom>
          <a:solidFill>
            <a:srgbClr val="D9B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5257800" cy="2880360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21608"/>
            <a:ext cx="4745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5CE"/>
                </a:solidFill>
                <a:latin typeface="Georgia"/>
              </a:rPr>
              <a:t>Path 1 — Manual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739896"/>
            <a:ext cx="4745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9C66C"/>
                </a:solidFill>
                <a:latin typeface="Calibri"/>
              </a:rPr>
              <a:t>STAFF-ENTERED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160520"/>
            <a:ext cx="4745736" cy="2039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50">
                <a:solidFill>
                  <a:srgbClr val="9BA5BC"/>
                </a:solidFill>
                <a:latin typeface="Calibri"/>
              </a:rPr>
              <a:t>Employee keys in the vendor's or customer's details directly in the app — company, tax, bank and MSME information — either as a single record or via bulk Excel import.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>
                <a:solidFill>
                  <a:srgbClr val="E5E9F2"/>
                </a:solidFill>
                <a:latin typeface="Calibri"/>
              </a:rPr>
              <a:t>•  Used when details already exist on paper or in email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520440"/>
            <a:ext cx="5349240" cy="2880360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3721608"/>
            <a:ext cx="4837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5CE"/>
                </a:solidFill>
                <a:latin typeface="Georgia"/>
              </a:rPr>
              <a:t>Path 2 — Shareable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739896"/>
            <a:ext cx="4837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9C66C"/>
                </a:solidFill>
                <a:latin typeface="Calibri"/>
              </a:rPr>
              <a:t>EMAIL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4160520"/>
            <a:ext cx="4837176" cy="2039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50">
                <a:solidFill>
                  <a:srgbClr val="9BA5BC"/>
                </a:solidFill>
                <a:latin typeface="Calibri"/>
              </a:rPr>
              <a:t>Employee sends a secure onboarding link to the vendor or customer. They fill in their own details and submit — no manual re-typing by staff.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>
                <a:solidFill>
                  <a:srgbClr val="E5E9F2"/>
                </a:solidFill>
                <a:latin typeface="Calibri"/>
              </a:rPr>
              <a:t>•  Link is emailed automatically and expires in 72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15240"/>
          </a:xfrm>
          <a:prstGeom prst="rect">
            <a:avLst/>
          </a:prstGeom>
          <a:solidFill>
            <a:srgbClr val="E9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9C66C"/>
                </a:solidFill>
                <a:latin typeface="Calibri"/>
              </a:rPr>
              <a:t>THE ONBOARDING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FFF5CE"/>
                </a:solidFill>
                <a:latin typeface="Georgia"/>
              </a:rPr>
              <a:t>What gets captured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BA5BC"/>
                </a:solidFill>
                <a:latin typeface="Calibri"/>
              </a:rPr>
              <a:t>The same form adapts to Vendor or Customer — bank details are required for vendors; sales-area fields appear for customers.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5257800" cy="3840480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32888"/>
            <a:ext cx="4745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5CE"/>
                </a:solidFill>
                <a:latin typeface="Georgia"/>
              </a:rPr>
              <a:t>Always collected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4745736" cy="2999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>
                <a:solidFill>
                  <a:srgbClr val="E5E9F2"/>
                </a:solidFill>
                <a:latin typeface="Calibri"/>
              </a:rPr>
              <a:t>•  Company name, contact person, emails &amp; phones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>
                <a:solidFill>
                  <a:srgbClr val="E5E9F2"/>
                </a:solidFill>
                <a:latin typeface="Calibri"/>
              </a:rPr>
              <a:t>•  Full address — street, city, district, state, PIN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>
                <a:solidFill>
                  <a:srgbClr val="E5E9F2"/>
                </a:solidFill>
                <a:latin typeface="Calibri"/>
              </a:rPr>
              <a:t>•  PAN number and PAN name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>
                <a:solidFill>
                  <a:srgbClr val="E5E9F2"/>
                </a:solidFill>
                <a:latin typeface="Calibri"/>
              </a:rPr>
              <a:t>•  GST applicability and GST number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>
                <a:solidFill>
                  <a:srgbClr val="E5E9F2"/>
                </a:solidFill>
                <a:latin typeface="Calibri"/>
              </a:rPr>
              <a:t>•  MSME / Udyam status and category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331720"/>
            <a:ext cx="5349240" cy="3840480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2532888"/>
            <a:ext cx="4837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5CE"/>
                </a:solidFill>
                <a:latin typeface="Georgia"/>
              </a:rPr>
              <a:t>Vendor-only vs. Customer-only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971800"/>
            <a:ext cx="4837176" cy="2999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 b="1">
                <a:solidFill>
                  <a:srgbClr val="D9BF77"/>
                </a:solidFill>
                <a:latin typeface="Calibri"/>
              </a:rPr>
              <a:t>Vendor: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>
                <a:solidFill>
                  <a:srgbClr val="E5E9F2"/>
                </a:solidFill>
                <a:latin typeface="Calibri"/>
              </a:rPr>
              <a:t>•  Bank account holder, bank, branch, account no., IFSC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>
                <a:solidFill>
                  <a:srgbClr val="E5E9F2"/>
                </a:solidFill>
                <a:latin typeface="Calibri"/>
              </a:rPr>
              <a:t>•  SAP purchase org, company code, payment terms, TDS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 b="1">
                <a:solidFill>
                  <a:srgbClr val="D9BF77"/>
                </a:solidFill>
                <a:latin typeface="Calibri"/>
              </a:rPr>
              <a:t>Customer: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>
                <a:solidFill>
                  <a:srgbClr val="E5E9F2"/>
                </a:solidFill>
                <a:latin typeface="Calibri"/>
              </a:rPr>
              <a:t>•  Sales organization, distribution channel, division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>
                <a:solidFill>
                  <a:srgbClr val="E5E9F2"/>
                </a:solidFill>
                <a:latin typeface="Calibri"/>
              </a:rPr>
              <a:t>•  Transportation zone, delivery plant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15240"/>
          </a:xfrm>
          <a:prstGeom prst="rect">
            <a:avLst/>
          </a:prstGeom>
          <a:solidFill>
            <a:srgbClr val="E9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9C66C"/>
                </a:solidFill>
                <a:latin typeface="Calibri"/>
              </a:rPr>
              <a:t>TRUST, BUT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FFF5CE"/>
                </a:solidFill>
                <a:latin typeface="Georgia"/>
              </a:rPr>
              <a:t>PAN &amp; GST verification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9BA5BC"/>
                </a:solidFill>
                <a:latin typeface="Calibri"/>
              </a:rPr>
              <a:t>Before a record can move to a boss or be approved, its PAN — and GST, if applicable — must check out against government records via a live KYC lookup.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5257800" cy="3383280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5257800" cy="502920"/>
          </a:xfrm>
          <a:prstGeom prst="rect">
            <a:avLst/>
          </a:prstGeom>
          <a:solidFill>
            <a:srgbClr val="1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441448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FF5CE"/>
                </a:solidFill>
                <a:latin typeface="Calibri"/>
              </a:rPr>
              <a:t>PAN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423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3A2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50" b="1">
                <a:solidFill>
                  <a:srgbClr val="E9C66C"/>
                </a:solidFill>
                <a:latin typeface="Calibri"/>
              </a:rPr>
              <a:t>SANDBOX KYC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072384"/>
            <a:ext cx="100584" cy="100584"/>
          </a:xfrm>
          <a:prstGeom prst="roundRect">
            <a:avLst>
              <a:gd name="adj" fmla="val 100000"/>
            </a:avLst>
          </a:prstGeom>
          <a:solidFill>
            <a:srgbClr val="6FB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017520"/>
            <a:ext cx="4617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5CE"/>
                </a:solidFill>
                <a:latin typeface="Calibri"/>
              </a:rPr>
              <a:t>Valid &amp; Operative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3255264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Matches name and date of birth/incorporation — clears the gate.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785616"/>
            <a:ext cx="100584" cy="100584"/>
          </a:xfrm>
          <a:prstGeom prst="roundRect">
            <a:avLst>
              <a:gd name="adj" fmla="val 10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3730752"/>
            <a:ext cx="4617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5CE"/>
                </a:solidFill>
                <a:latin typeface="Calibri"/>
              </a:rPr>
              <a:t>Valid but Inoperative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3968496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PAN exists but isn't Aadhaar-linked/operative — blocked until corrected.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498848"/>
            <a:ext cx="100584" cy="100584"/>
          </a:xfrm>
          <a:prstGeom prst="roundRect">
            <a:avLst>
              <a:gd name="adj" fmla="val 100000"/>
            </a:avLst>
          </a:prstGeom>
          <a:solidFill>
            <a:srgbClr val="E08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443984"/>
            <a:ext cx="4617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5CE"/>
                </a:solidFill>
                <a:latin typeface="Calibri"/>
              </a:rPr>
              <a:t>Failed / Not found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4681728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Record cannot proceed until PAN details are corrected and re-verified.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331720"/>
            <a:ext cx="5349240" cy="3383280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331720"/>
            <a:ext cx="5349240" cy="502920"/>
          </a:xfrm>
          <a:prstGeom prst="rect">
            <a:avLst/>
          </a:prstGeom>
          <a:solidFill>
            <a:srgbClr val="1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2441448"/>
            <a:ext cx="3520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FF5CE"/>
                </a:solidFill>
                <a:latin typeface="Calibri"/>
              </a:rPr>
              <a:t>GST verification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2423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3A2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50" b="1">
                <a:solidFill>
                  <a:srgbClr val="E9C66C"/>
                </a:solidFill>
                <a:latin typeface="Calibri"/>
              </a:rPr>
              <a:t>SANDBOX KYC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73368" y="3072384"/>
            <a:ext cx="100584" cy="100584"/>
          </a:xfrm>
          <a:prstGeom prst="roundRect">
            <a:avLst>
              <a:gd name="adj" fmla="val 100000"/>
            </a:avLst>
          </a:prstGeom>
          <a:solidFill>
            <a:srgbClr val="6FB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2824" y="3017520"/>
            <a:ext cx="4709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5CE"/>
                </a:solidFill>
                <a:latin typeface="Calibri"/>
              </a:rPr>
              <a:t>Valid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2824" y="32552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Active GSTIN confirmed — clears the gate.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3368" y="3785616"/>
            <a:ext cx="100584" cy="100584"/>
          </a:xfrm>
          <a:prstGeom prst="roundRect">
            <a:avLst>
              <a:gd name="adj" fmla="val 100000"/>
            </a:avLst>
          </a:prstGeom>
          <a:solidFill>
            <a:srgbClr val="E08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2824" y="3730752"/>
            <a:ext cx="4709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5CE"/>
                </a:solidFill>
                <a:latin typeface="Calibri"/>
              </a:rPr>
              <a:t>Failed / Cancelled / Suspended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2824" y="3968496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Blocked until GST details are corrected and re-verified.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73368" y="4498848"/>
            <a:ext cx="100584" cy="100584"/>
          </a:xfrm>
          <a:prstGeom prst="roundRect">
            <a:avLst>
              <a:gd name="adj" fmla="val 100000"/>
            </a:avLst>
          </a:prstGeom>
          <a:solidFill>
            <a:srgbClr val="6FB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2824" y="4443984"/>
            <a:ext cx="4709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5CE"/>
                </a:solidFill>
                <a:latin typeface="Calibri"/>
              </a:rPr>
              <a:t>Not applicable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2824" y="468172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Skipped entirely when the vendor isn't GST-registered.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1">
                <a:solidFill>
                  <a:srgbClr val="9BA5BC"/>
                </a:solidFill>
                <a:latin typeface="Calibri"/>
              </a:rPr>
              <a:t>Sending to a boss, and approving, both re-check these gates — a record can't be waved through with a pending or failed verification.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15240"/>
          </a:xfrm>
          <a:prstGeom prst="rect">
            <a:avLst/>
          </a:prstGeom>
          <a:solidFill>
            <a:srgbClr val="E9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9C66C"/>
                </a:solidFill>
                <a:latin typeface="Calibri"/>
              </a:rPr>
              <a:t>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FFF5CE"/>
                </a:solidFill>
                <a:latin typeface="Georgia"/>
              </a:rPr>
              <a:t>Documents required before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10881360" cy="12700"/>
          </a:xfrm>
          <a:prstGeom prst="rect">
            <a:avLst/>
          </a:prstGeom>
          <a:solidFill>
            <a:srgbClr val="3A3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9397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FFF5CE"/>
                </a:solidFill>
                <a:latin typeface="Georgia"/>
              </a:rPr>
              <a:t>PAN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3969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08768"/>
                </a:solidFill>
                <a:latin typeface="Calibri"/>
              </a:rPr>
              <a:t>Always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3969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BA5BC"/>
                </a:solidFill>
                <a:latin typeface="Calibri"/>
              </a:rPr>
              <a:t>Both vendor and customer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79192"/>
            <a:ext cx="10881360" cy="12700"/>
          </a:xfrm>
          <a:prstGeom prst="rect">
            <a:avLst/>
          </a:prstGeom>
          <a:solidFill>
            <a:srgbClr val="3A3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FFF5CE"/>
                </a:solidFill>
                <a:latin typeface="Georgia"/>
              </a:rPr>
              <a:t>GST Certificate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529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Conditionally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8529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BA5BC"/>
                </a:solidFill>
                <a:latin typeface="Calibri"/>
              </a:rPr>
              <a:t>Only when GST is marked applicable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92424"/>
            <a:ext cx="10881360" cy="12700"/>
          </a:xfrm>
          <a:prstGeom prst="rect">
            <a:avLst/>
          </a:prstGeom>
          <a:solidFill>
            <a:srgbClr val="3A3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FFF5CE"/>
                </a:solidFill>
                <a:latin typeface="Georgia"/>
              </a:rPr>
              <a:t>Cancelled Cheque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661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08768"/>
                </a:solidFill>
                <a:latin typeface="Calibri"/>
              </a:rPr>
              <a:t>Vendor only —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661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BA5BC"/>
                </a:solidFill>
                <a:latin typeface="Calibri"/>
              </a:rPr>
              <a:t>Confirms bank account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05656"/>
            <a:ext cx="10881360" cy="12700"/>
          </a:xfrm>
          <a:prstGeom prst="rect">
            <a:avLst/>
          </a:prstGeom>
          <a:solidFill>
            <a:srgbClr val="3A3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3367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FFF5CE"/>
                </a:solidFill>
                <a:latin typeface="Georgia"/>
              </a:rPr>
              <a:t>MSME Certificate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27939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Conditionally 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27939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BA5BC"/>
                </a:solidFill>
                <a:latin typeface="Calibri"/>
              </a:rPr>
              <a:t>Vendor only, when MSME is applicable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18888"/>
            <a:ext cx="10881360" cy="12700"/>
          </a:xfrm>
          <a:prstGeom prst="rect">
            <a:avLst/>
          </a:prstGeom>
          <a:solidFill>
            <a:srgbClr val="3A3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4690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FFF5CE"/>
                </a:solidFill>
                <a:latin typeface="Georgia"/>
              </a:rPr>
              <a:t>Additional documents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99262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9BA5BC"/>
                </a:solidFill>
                <a:latin typeface="Calibri"/>
              </a:rPr>
              <a:t>Optional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99262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BA5BC"/>
                </a:solidFill>
                <a:latin typeface="Calibri"/>
              </a:rPr>
              <a:t>Any extra supporting 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532120"/>
            <a:ext cx="10881360" cy="12700"/>
          </a:xfrm>
          <a:prstGeom prst="rect">
            <a:avLst/>
          </a:prstGeom>
          <a:solidFill>
            <a:srgbClr val="3A3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15240"/>
          </a:xfrm>
          <a:prstGeom prst="rect">
            <a:avLst/>
          </a:prstGeom>
          <a:solidFill>
            <a:srgbClr val="E9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9C66C"/>
                </a:solidFill>
                <a:latin typeface="Calibri"/>
              </a:rPr>
              <a:t>FROM FIRST CONTACT TO SAP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FFF5CE"/>
                </a:solidFill>
                <a:latin typeface="Georgia"/>
              </a:rPr>
              <a:t>The end-to-end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9BA5BC"/>
                </a:solidFill>
                <a:latin typeface="Calibri"/>
              </a:rPr>
              <a:t>Employee onboards, vendor/customer fills in, Employee verifies, Boss approves, record goes into SAP.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16733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9BA5BC"/>
                </a:solidFill>
                <a:latin typeface="Calibri"/>
              </a:rPr>
              <a:t>STEP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1673352" cy="1874519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40280"/>
            <a:ext cx="45720" cy="187451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86584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5CE"/>
                </a:solidFill>
                <a:latin typeface="Calibri"/>
              </a:rPr>
              <a:t>Employee onboards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98648"/>
            <a:ext cx="1417320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BA5BC"/>
                </a:solidFill>
                <a:latin typeface="Calibri"/>
              </a:rPr>
              <a:t>Manual entry, or a link is shared with the vendor/customer.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040379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D9BF77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2304" y="1947672"/>
            <a:ext cx="16733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9BA5BC"/>
                </a:solidFill>
                <a:latin typeface="Calibri"/>
              </a:rPr>
              <a:t>STEP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2304" y="2240280"/>
            <a:ext cx="1673352" cy="1874519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2304" y="2240280"/>
            <a:ext cx="45720" cy="187451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8608" y="2386584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5CE"/>
                </a:solidFill>
                <a:latin typeface="Calibri"/>
              </a:rPr>
              <a:t>Vendor / Customer fills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2898648"/>
            <a:ext cx="1417320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BA5BC"/>
                </a:solidFill>
                <a:latin typeface="Calibri"/>
              </a:rPr>
              <a:t>If a link was shared, they complete and submit their own 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040379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D9BF77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1947672"/>
            <a:ext cx="16733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9BA5BC"/>
                </a:solidFill>
                <a:latin typeface="Calibri"/>
              </a:rPr>
              <a:t>STEP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2240280"/>
            <a:ext cx="1673352" cy="1874519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24528" y="2240280"/>
            <a:ext cx="45720" cy="1874519"/>
          </a:xfrm>
          <a:prstGeom prst="rect">
            <a:avLst/>
          </a:prstGeom>
          <a:solidFill>
            <a:srgbClr val="E08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0832" y="2386584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5CE"/>
                </a:solidFill>
                <a:latin typeface="Calibri"/>
              </a:rPr>
              <a:t>Employee checks &amp; verifies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2898648"/>
            <a:ext cx="1417320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BA5BC"/>
                </a:solidFill>
                <a:latin typeface="Calibri"/>
              </a:rPr>
              <a:t>PAN/GST verified live, required documents reviewed.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3040379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D9BF77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1947672"/>
            <a:ext cx="16733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9BA5BC"/>
                </a:solidFill>
                <a:latin typeface="Calibri"/>
              </a:rPr>
              <a:t>STEP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16752" y="2240280"/>
            <a:ext cx="1673352" cy="1874519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16752" y="2240280"/>
            <a:ext cx="45720" cy="1874519"/>
          </a:xfrm>
          <a:prstGeom prst="rect">
            <a:avLst/>
          </a:prstGeom>
          <a:solidFill>
            <a:srgbClr val="E08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3056" y="2386584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5CE"/>
                </a:solidFill>
                <a:latin typeface="Calibri"/>
              </a:rPr>
              <a:t>Sent to Boss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3056" y="2898648"/>
            <a:ext cx="1417320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BA5BC"/>
                </a:solidFill>
                <a:latin typeface="Calibri"/>
              </a:rPr>
              <a:t>Employee routes the completed, verified record to the Boss.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3040379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D9BF77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08976" y="1947672"/>
            <a:ext cx="16733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9BA5BC"/>
                </a:solidFill>
                <a:latin typeface="Calibri"/>
              </a:rPr>
              <a:t>STEP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08976" y="2240280"/>
            <a:ext cx="1673352" cy="1874519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08976" y="2240280"/>
            <a:ext cx="45720" cy="1874519"/>
          </a:xfrm>
          <a:prstGeom prst="rect">
            <a:avLst/>
          </a:prstGeom>
          <a:solidFill>
            <a:srgbClr val="6FB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0" y="2386584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5CE"/>
                </a:solidFill>
                <a:latin typeface="Calibri"/>
              </a:rPr>
              <a:t>Boss approves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2898648"/>
            <a:ext cx="1417320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BA5BC"/>
                </a:solidFill>
                <a:latin typeface="Calibri"/>
              </a:rPr>
              <a:t>Boss reviews and gives final approval (or rejects with remarks).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54896" y="3040379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D9BF77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1947672"/>
            <a:ext cx="16733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9BA5BC"/>
                </a:solidFill>
                <a:latin typeface="Calibri"/>
              </a:rPr>
              <a:t>STEP 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2240280"/>
            <a:ext cx="1673352" cy="1874519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01200" y="2240280"/>
            <a:ext cx="45720" cy="1874519"/>
          </a:xfrm>
          <a:prstGeom prst="rect">
            <a:avLst/>
          </a:prstGeom>
          <a:solidFill>
            <a:srgbClr val="8FA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47504" y="2386584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5CE"/>
                </a:solidFill>
                <a:latin typeface="Calibri"/>
              </a:rPr>
              <a:t>Created in SAP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7504" y="2898648"/>
            <a:ext cx="1417320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BA5BC"/>
                </a:solidFill>
                <a:latin typeface="Calibri"/>
              </a:rPr>
              <a:t>Approved details are exported and entered as the vendor/customer master in SAP.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480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1">
                <a:solidFill>
                  <a:srgbClr val="9BA5BC"/>
                </a:solidFill>
                <a:latin typeface="Calibri"/>
              </a:rPr>
              <a:t>A record can't skip ahead — verification and documents must be complete before it reaches the Boss, and every step is logged in a permanent approval-history audit trail.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15240"/>
          </a:xfrm>
          <a:prstGeom prst="rect">
            <a:avLst/>
          </a:prstGeom>
          <a:solidFill>
            <a:srgbClr val="E9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9C66C"/>
                </a:solidFill>
                <a:latin typeface="Calibri"/>
              </a:rPr>
              <a:t>WHERE A RECORD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FFF5CE"/>
                </a:solidFill>
                <a:latin typeface="Georgia"/>
              </a:rPr>
              <a:t>Status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BA5BC"/>
                </a:solidFill>
                <a:latin typeface="Calibri"/>
              </a:rPr>
              <a:t>The dashboard shows every onboarding filtered by these statuses, searchable by company, code, PAN or contact person.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E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9BA5BC"/>
                </a:solidFill>
                <a:latin typeface="Calibri"/>
              </a:rPr>
              <a:t>Draft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46504" y="228600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3A2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54096" y="2286000"/>
            <a:ext cx="2569464" cy="384048"/>
          </a:xfrm>
          <a:prstGeom prst="roundRect">
            <a:avLst>
              <a:gd name="adj" fmla="val 50000"/>
            </a:avLst>
          </a:prstGeom>
          <a:solidFill>
            <a:srgbClr val="3A2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Pending Boss 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9864" y="228600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8FAEE8"/>
                </a:solidFill>
                <a:latin typeface="Calibri"/>
              </a:rPr>
              <a:t>Under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0376" y="228600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163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6FBB90"/>
                </a:solidFill>
                <a:latin typeface="Calibri"/>
              </a:rPr>
              <a:t>Approved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228600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3A1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E08768"/>
                </a:solidFill>
                <a:latin typeface="Calibri"/>
              </a:rPr>
              <a:t>Rejected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5257800" cy="2834640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264408"/>
            <a:ext cx="4745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5CE"/>
                </a:solidFill>
                <a:latin typeface="Georgia"/>
              </a:rPr>
              <a:t>Dashboard gives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703320"/>
            <a:ext cx="4745736" cy="1993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>
                <a:solidFill>
                  <a:srgbClr val="E5E9F2"/>
                </a:solidFill>
                <a:latin typeface="Calibri"/>
              </a:rPr>
              <a:t>•  Totals, pending count, approved/rejected split, MSME count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>
                <a:solidFill>
                  <a:srgbClr val="E5E9F2"/>
                </a:solidFill>
                <a:latin typeface="Calibri"/>
              </a:rPr>
              <a:t>•  Vendor vs. customer breakdown, filterable by date range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00">
                <a:solidFill>
                  <a:srgbClr val="E5E9F2"/>
                </a:solidFill>
                <a:latin typeface="Calibri"/>
              </a:rPr>
              <a:t>•  Bosses see their team's employee count and queue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063240"/>
            <a:ext cx="5349240" cy="2834640"/>
          </a:xfrm>
          <a:prstGeom prst="rect">
            <a:avLst/>
          </a:prstGeom>
          <a:solidFill>
            <a:srgbClr val="131F34"/>
          </a:solidFill>
          <a:ln w="12700">
            <a:solidFill>
              <a:srgbClr val="3A3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264408"/>
            <a:ext cx="4837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5CE"/>
                </a:solidFill>
                <a:latin typeface="Georgia"/>
              </a:rPr>
              <a:t>Every record is codenamed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703320"/>
            <a:ext cx="4837176" cy="1993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50">
                <a:solidFill>
                  <a:srgbClr val="9BA5BC"/>
                </a:solidFill>
                <a:latin typeface="Calibri"/>
              </a:rPr>
              <a:t>Vendors are numbered V1, V2, V3… and customers C1, C2, C3… automatically on creation — a stable reference used throughout documents, exports and approvals.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15240"/>
          </a:xfrm>
          <a:prstGeom prst="rect">
            <a:avLst/>
          </a:prstGeom>
          <a:solidFill>
            <a:srgbClr val="E9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9C66C"/>
                </a:solidFill>
                <a:latin typeface="Calibri"/>
              </a:rPr>
              <a:t>THE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FFF5CE"/>
                </a:solidFill>
                <a:latin typeface="Georgia"/>
              </a:rPr>
              <a:t>Approved records export straight to SAP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9BA5BC"/>
                </a:solidFill>
                <a:latin typeface="Calibri"/>
              </a:rPr>
              <a:t>Once approved, an onboarding is ready for the Mass Vendor Creation template — a formatted Excel export mapping every captured field to its SAP column, so master data entry becomes a paste, not a re-type.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331720"/>
          <a:ext cx="108813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669280"/>
                <a:gridCol w="2468880"/>
              </a:tblGrid>
              <a:tr h="405765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D9BF77"/>
                          </a:solidFill>
                          <a:latin typeface="Calibri"/>
                        </a:rPr>
                        <a:t>SAP field</a:t>
                      </a:r>
                    </a:p>
                  </a:txBody>
                  <a:tcPr marL="127000" marR="127000" marT="76200" marB="76200" anchor="ctr">
                    <a:solidFill>
                      <a:srgbClr val="18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D9BF77"/>
                          </a:solidFill>
                          <a:latin typeface="Calibri"/>
                        </a:rPr>
                        <a:t>Source in the onboarding record</a:t>
                      </a:r>
                    </a:p>
                  </a:txBody>
                  <a:tcPr marL="127000" marR="127000" marT="76200" marB="76200" anchor="ctr">
                    <a:solidFill>
                      <a:srgbClr val="18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D9BF77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127000" marR="127000" marT="76200" marB="76200" anchor="ctr">
                    <a:solidFill>
                      <a:srgbClr val="18243B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5CE"/>
                          </a:solidFill>
                          <a:latin typeface="Consolas"/>
                        </a:rPr>
                        <a:t>NAME1–NAME4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5E9F2"/>
                          </a:solidFill>
                          <a:latin typeface="Calibri"/>
                        </a:rPr>
                        <a:t>Company name, split into 35-char SAP segments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5CE"/>
                          </a:solidFill>
                          <a:latin typeface="Consolas"/>
                        </a:rPr>
                        <a:t>RADICO SUPPLIES PVT LTD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5CE"/>
                          </a:solidFill>
                          <a:latin typeface="Consolas"/>
                        </a:rPr>
                        <a:t>REGION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5E9F2"/>
                          </a:solidFill>
                          <a:latin typeface="Calibri"/>
                        </a:rPr>
                        <a:t>State, mapped to SAP region code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5CE"/>
                          </a:solidFill>
                          <a:latin typeface="Consolas"/>
                        </a:rPr>
                        <a:t>MAH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5CE"/>
                          </a:solidFill>
                          <a:latin typeface="Consolas"/>
                        </a:rPr>
                        <a:t>TAXNUMBER (GST)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5E9F2"/>
                          </a:solidFill>
                          <a:latin typeface="Calibri"/>
                        </a:rPr>
                        <a:t>GST number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5CE"/>
                          </a:solidFill>
                          <a:latin typeface="Consolas"/>
                        </a:rPr>
                        <a:t>27ABCDE1234F1Z5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5CE"/>
                          </a:solidFill>
                          <a:latin typeface="Consolas"/>
                        </a:rPr>
                        <a:t>PANNO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5E9F2"/>
                          </a:solidFill>
                          <a:latin typeface="Calibri"/>
                        </a:rPr>
                        <a:t>PAN number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5CE"/>
                          </a:solidFill>
                          <a:latin typeface="Consolas"/>
                        </a:rPr>
                        <a:t>ABCDE1234F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5CE"/>
                          </a:solidFill>
                          <a:latin typeface="Consolas"/>
                        </a:rPr>
                        <a:t>BANK_KEY / BANK_ACCT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5E9F2"/>
                          </a:solidFill>
                          <a:latin typeface="Calibri"/>
                        </a:rPr>
                        <a:t>IFSC code / account number (split at 18 chars)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5CE"/>
                          </a:solidFill>
                          <a:latin typeface="Consolas"/>
                        </a:rPr>
                        <a:t>HDFC0001234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5CE"/>
                          </a:solidFill>
                          <a:latin typeface="Consolas"/>
                        </a:rPr>
                        <a:t>EKORG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5E9F2"/>
                          </a:solidFill>
                          <a:latin typeface="Calibri"/>
                        </a:rPr>
                        <a:t>Purchase organization to open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5CE"/>
                          </a:solidFill>
                          <a:latin typeface="Consolas"/>
                        </a:rPr>
                        <a:t>1000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5CE"/>
                          </a:solidFill>
                          <a:latin typeface="Consolas"/>
                        </a:rPr>
                        <a:t>MINDK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5E9F2"/>
                          </a:solidFill>
                          <a:latin typeface="Calibri"/>
                        </a:rPr>
                        <a:t>MSME status classification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5CE"/>
                          </a:solidFill>
                          <a:latin typeface="Consolas"/>
                        </a:rPr>
                        <a:t>MSE</a:t>
                      </a:r>
                    </a:p>
                  </a:txBody>
                  <a:tcPr marL="127000" marR="127000" marT="76200" marB="76200" anchor="ctr">
                    <a:solidFill>
                      <a:srgbClr val="131F3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607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1">
                <a:solidFill>
                  <a:srgbClr val="9BA5BC"/>
                </a:solidFill>
                <a:latin typeface="Calibri"/>
              </a:rPr>
              <a:t>Exports can be pulled for the full approved set, filtered by date, or generated for a single record — plus a PAN-only export for compliance checks.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-1371600"/>
            <a:ext cx="5943600" cy="4114800"/>
          </a:xfrm>
          <a:prstGeom prst="roundRect">
            <a:avLst>
              <a:gd name="adj" fmla="val 50000"/>
            </a:avLst>
          </a:prstGeom>
          <a:solidFill>
            <a:srgbClr val="1C1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1732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9C66C"/>
                </a:solidFill>
                <a:latin typeface="Calibri"/>
              </a:rPr>
              <a:t>IN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74519"/>
            <a:ext cx="9418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FFF5CE"/>
                </a:solidFill>
                <a:latin typeface="Georgia"/>
              </a:rPr>
              <a:t>One record, from first email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FFF5CE"/>
                </a:solidFill>
                <a:latin typeface="Georgia"/>
              </a:rPr>
              <a:t>to SAP-ready master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46120"/>
            <a:ext cx="7772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9BA5BC"/>
                </a:solidFill>
                <a:latin typeface="Calibri"/>
              </a:rPr>
              <a:t>Invite or enter → self-fill or staff-fill → verify PAN/GST → attach documents → route to a boss → approve →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1027" y="4160520"/>
            <a:ext cx="96012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9B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50">
                <a:solidFill>
                  <a:srgbClr val="E5E9F2"/>
                </a:solidFill>
                <a:latin typeface="Calibri"/>
              </a:rPr>
              <a:t>5 roles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64027" y="4160520"/>
            <a:ext cx="123444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9B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50">
                <a:solidFill>
                  <a:srgbClr val="E5E9F2"/>
                </a:solidFill>
                <a:latin typeface="Calibri"/>
              </a:rPr>
              <a:t>6 statuses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347" y="4160520"/>
            <a:ext cx="187452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9B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50">
                <a:solidFill>
                  <a:srgbClr val="E5E9F2"/>
                </a:solidFill>
                <a:latin typeface="Calibri"/>
              </a:rPr>
              <a:t>2 live KYC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38747" y="4160520"/>
            <a:ext cx="178308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9B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50">
                <a:solidFill>
                  <a:srgbClr val="E5E9F2"/>
                </a:solidFill>
                <a:latin typeface="Calibri"/>
              </a:rPr>
              <a:t>4 document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04707" y="4160520"/>
            <a:ext cx="19659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9B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50">
                <a:solidFill>
                  <a:srgbClr val="E5E9F2"/>
                </a:solidFill>
                <a:latin typeface="Calibri"/>
              </a:rPr>
              <a:t>1 SAP-ready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5BC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